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Top 5 Feature Importances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3E7CB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Claim Amount</c:v>
                  </c:pt>
                  <c:pt idx="1">
                    <c:v>Approved Amount</c:v>
                  </c:pt>
                  <c:pt idx="2">
                    <c:v>Diagnosis: N39.0</c:v>
                  </c:pt>
                  <c:pt idx="3">
                    <c:v>Procedure: 99214</c:v>
                  </c:pt>
                  <c:pt idx="4">
                    <c:v>Patient State: IL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17.9</c:v>
                </c:pt>
                <c:pt idx="1">
                  <c:v>12.6</c:v>
                </c:pt>
                <c:pt idx="2">
                  <c:v>5.5</c:v>
                </c:pt>
                <c:pt idx="3">
                  <c:v>5.2</c:v>
                </c:pt>
                <c:pt idx="4">
                  <c:v>3.7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AI-Assisted Payment Integrity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97280" y="2971800"/>
            <a:ext cx="9994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D6E8"/>
                </a:solidFill>
              </a:rPr>
              <a:t>Classification &amp; Agentic Reasoning for Healthcare Claims Fraud Detection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402336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6C4"/>
                </a:solidFill>
              </a:rPr>
              <a:t>Atharva Shinde   •   Cotiviti Intern Assessment   •   Topic 2: Clinical Decision-Making &amp; Pattern Recognition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Business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</a:rPr>
              <a:t>Why this maps directly to Cotiviti's core work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392424" cy="3291840"/>
          </a:xfrm>
          <a:prstGeom prst="roundRect">
            <a:avLst>
              <a:gd name="adj" fmla="val 222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28800"/>
            <a:ext cx="29352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Payment integrity is the mandate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293522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</a:rPr>
              <a:t>Catching improper, wasteful, or fraudulent healthcare claims before or after reimbursement is Cotiviti's core business — not a side use case for AI.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15384" y="1600200"/>
            <a:ext cx="3392424" cy="3291840"/>
          </a:xfrm>
          <a:prstGeom prst="roundRect">
            <a:avLst>
              <a:gd name="adj" fmla="val 222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43984" y="1828800"/>
            <a:ext cx="29352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Static rules aren't enough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43984" y="2606040"/>
            <a:ext cx="293522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</a:rPr>
              <a:t>Hand-coded billing edit rules catch known patterns, but miss subtler, evolving fraud signals hidden in provider billing behavior.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882128" y="1600200"/>
            <a:ext cx="3392424" cy="3291840"/>
          </a:xfrm>
          <a:prstGeom prst="roundRect">
            <a:avLst>
              <a:gd name="adj" fmla="val 222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10728" y="1828800"/>
            <a:ext cx="29352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Auditors need reasoning, not just scores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10728" y="2606040"/>
            <a:ext cx="293522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</a:rPr>
              <a:t>A fraud probability alone doesn't help a human auditor act — they need a grounded explanation and a recommended next step.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Cotiviti Intern Assessment  |  Atharva Shinde  |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</a:rPr>
              <a:t>From raw claim to auditor-ready recommendation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286000" cy="1554480"/>
          </a:xfrm>
          <a:prstGeom prst="roundRect">
            <a:avLst>
              <a:gd name="adj" fmla="val 5294"/>
            </a:avLst>
          </a:prstGeom>
          <a:solidFill>
            <a:srgbClr val="6E8CA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5146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Raw Claim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31546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0F0"/>
                </a:solidFill>
              </a:rPr>
              <a:t>Patient, provider, diagnosis, procedure, financial fields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932024" y="3044952"/>
            <a:ext cx="454457" cy="219456"/>
          </a:xfrm>
          <a:prstGeom prst="rightArrow">
            <a:avLst/>
          </a:prstGeom>
          <a:solidFill>
            <a:srgbClr val="B0B8C4"/>
          </a:solidFill>
          <a:ln/>
        </p:spPr>
      </p:sp>
      <p:sp>
        <p:nvSpPr>
          <p:cNvPr id="8" name="Shape 6"/>
          <p:cNvSpPr/>
          <p:nvPr/>
        </p:nvSpPr>
        <p:spPr>
          <a:xfrm>
            <a:off x="3483864" y="2377440"/>
            <a:ext cx="2286000" cy="1554480"/>
          </a:xfrm>
          <a:prstGeom prst="roundRect">
            <a:avLst>
              <a:gd name="adj" fmla="val 5294"/>
            </a:avLst>
          </a:prstGeom>
          <a:solidFill>
            <a:srgbClr val="3E7CB1"/>
          </a:solidFill>
          <a:ln/>
        </p:spPr>
      </p:sp>
      <p:sp>
        <p:nvSpPr>
          <p:cNvPr id="9" name="Text 7"/>
          <p:cNvSpPr/>
          <p:nvPr/>
        </p:nvSpPr>
        <p:spPr>
          <a:xfrm>
            <a:off x="3575304" y="25146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XGBoost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Classifier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21024" y="31546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0F0"/>
                </a:solidFill>
              </a:rPr>
              <a:t>Predicts fraud probability from engineered features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867248" y="3044952"/>
            <a:ext cx="454457" cy="219456"/>
          </a:xfrm>
          <a:prstGeom prst="rightArrow">
            <a:avLst/>
          </a:prstGeom>
          <a:solidFill>
            <a:srgbClr val="B0B8C4"/>
          </a:solidFill>
          <a:ln/>
        </p:spPr>
      </p:sp>
      <p:sp>
        <p:nvSpPr>
          <p:cNvPr id="12" name="Shape 10"/>
          <p:cNvSpPr/>
          <p:nvPr/>
        </p:nvSpPr>
        <p:spPr>
          <a:xfrm>
            <a:off x="6419088" y="2377440"/>
            <a:ext cx="2286000" cy="1554480"/>
          </a:xfrm>
          <a:prstGeom prst="roundRect">
            <a:avLst>
              <a:gd name="adj" fmla="val 5294"/>
            </a:avLst>
          </a:prstGeom>
          <a:solidFill>
            <a:srgbClr val="4E9C7A"/>
          </a:solidFill>
          <a:ln/>
        </p:spPr>
      </p:sp>
      <p:sp>
        <p:nvSpPr>
          <p:cNvPr id="13" name="Text 11"/>
          <p:cNvSpPr/>
          <p:nvPr/>
        </p:nvSpPr>
        <p:spPr>
          <a:xfrm>
            <a:off x="6510528" y="25146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Feature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Explainer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56248" y="31546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0F0"/>
                </a:solidFill>
              </a:rPr>
              <a:t>Surfaces top global feature importances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802472" y="3044952"/>
            <a:ext cx="454457" cy="219456"/>
          </a:xfrm>
          <a:prstGeom prst="rightArrow">
            <a:avLst/>
          </a:prstGeom>
          <a:solidFill>
            <a:srgbClr val="B0B8C4"/>
          </a:solidFill>
          <a:ln/>
        </p:spPr>
      </p:sp>
      <p:sp>
        <p:nvSpPr>
          <p:cNvPr id="16" name="Shape 14"/>
          <p:cNvSpPr/>
          <p:nvPr/>
        </p:nvSpPr>
        <p:spPr>
          <a:xfrm>
            <a:off x="9354312" y="2377440"/>
            <a:ext cx="2286000" cy="1554480"/>
          </a:xfrm>
          <a:prstGeom prst="roundRect">
            <a:avLst>
              <a:gd name="adj" fmla="val 5294"/>
            </a:avLst>
          </a:prstGeom>
          <a:solidFill>
            <a:srgbClr val="1F3864"/>
          </a:solidFill>
          <a:ln/>
        </p:spPr>
      </p:sp>
      <p:sp>
        <p:nvSpPr>
          <p:cNvPr id="17" name="Text 15"/>
          <p:cNvSpPr/>
          <p:nvPr/>
        </p:nvSpPr>
        <p:spPr>
          <a:xfrm>
            <a:off x="9445752" y="25146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LLM Reasoning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Agent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491472" y="31546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0F0"/>
                </a:solidFill>
              </a:rPr>
              <a:t>Plain-English rationale + audit priority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31520" y="457200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5A5A"/>
                </a:solidFill>
              </a:rPr>
              <a:t>Built as a 3-node LangGraph workflow: predict → explain → reason. Kept deliberately lean per the assessment's "scrappy, not overbuilt" guidance.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Cotiviti Intern Assessment  |  Atharva Shinde  |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Catching Data Leakage — Twice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</a:rPr>
              <a:t>Why the first result was too good to trust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2377440"/>
        </p:xfrm>
        <a:graphic>
          <a:graphicData uri="http://schemas.openxmlformats.org/drawingml/2006/table">
            <a:tbl>
              <a:tblPr/>
              <a:tblGrid>
                <a:gridCol w="1554480"/>
                <a:gridCol w="1280160"/>
                <a:gridCol w="1463040"/>
                <a:gridCol w="1371600"/>
                <a:gridCol w="475488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Version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Issue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v1 (initial)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94%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94%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0.997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23A3A"/>
                          </a:solidFill>
                        </a:rPr>
                        <a:t>Days_Between_Service_and_Claim dominated (65% importance)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v2 (fix #1)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84%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93%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0.982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23A3A"/>
                          </a:solidFill>
                        </a:rPr>
                        <a:t>Claim_Status still leaking outcome info (54% importance)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v3 (final)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C8D5C"/>
                          </a:solidFill>
                        </a:rPr>
                        <a:t>84%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C8D5C"/>
                          </a:solidFill>
                        </a:rPr>
                        <a:t>93%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C8D5C"/>
                          </a:solidFill>
                        </a:rPr>
                        <a:t>0.98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C8D5C"/>
                          </a:solidFill>
                        </a:rPr>
                        <a:t>Clean — importance spread across legitimate features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34340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33333"/>
                </a:solidFill>
              </a:rPr>
              <a:t>Both leaks were post-outcome fields — information about the claim's processing status, not knowable at the point of a real fraud decision. Removing them cost ~10 points of recall, but the result is now honest and defensible.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Cotiviti Intern Assessment  |  Atharva Shinde  |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Model Performance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</a:rPr>
              <a:t>Honest results, grounded in legitimate signals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017520" cy="868680"/>
          </a:xfrm>
          <a:prstGeom prst="roundRect">
            <a:avLst>
              <a:gd name="adj" fmla="val 8421"/>
            </a:avLst>
          </a:prstGeom>
          <a:solidFill>
            <a:srgbClr val="F4F6F9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10512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84%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965960" y="1810512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</a:rPr>
              <a:t>Recall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3017520" cy="868680"/>
          </a:xfrm>
          <a:prstGeom prst="roundRect">
            <a:avLst>
              <a:gd name="adj" fmla="val 8421"/>
            </a:avLst>
          </a:prstGeom>
          <a:solidFill>
            <a:srgbClr val="F4F6F9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862072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93%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965960" y="2862072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</a:rPr>
              <a:t>Precision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3017520" cy="868680"/>
          </a:xfrm>
          <a:prstGeom prst="roundRect">
            <a:avLst>
              <a:gd name="adj" fmla="val 8421"/>
            </a:avLst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913632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0.98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965960" y="3913632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</a:rPr>
              <a:t>ROC-AUC</a:t>
            </a:r>
            <a:endParaRPr lang="en-US" sz="14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023360" y="1691640"/>
          <a:ext cx="7589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Cotiviti Intern Assessment  |  Atharva Shinde  |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in Action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</a:rPr>
              <a:t>Sample output on a real test claim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4206240"/>
          </a:xfrm>
          <a:prstGeom prst="roundRect">
            <a:avLst>
              <a:gd name="adj" fmla="val 1739"/>
            </a:avLst>
          </a:prstGeom>
          <a:solidFill>
            <a:srgbClr val="F4F6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10360152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F3864"/>
                </a:solidFill>
              </a:rPr>
              <a:t>Claim: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71F, Diagnosis F41.9 (anxiety), Procedure 99213, Claim $219.37 / Approved $207.50, Pulmonology, Inpatient
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F3864"/>
                </a:solidFill>
              </a:rPr>
              <a:t>Model prediction: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3C8D5C"/>
                </a:solidFill>
              </a:rPr>
              <a:t>Not Fraud  (probability: 0.0001)
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F3864"/>
                </a:solidFill>
              </a:rPr>
              <a:t>Agent explanation: </a:t>
            </a:r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333333"/>
                </a:solidFill>
              </a:rPr>
              <a:t>"This claim is unlikely to be fraudulent due to the low model fraud probability of 0.0001. The approved amount ($207.50) is close to the claim amount ($219.37), which typically indicates legitimate billing practices, and the patient's visit history aligns with standard care for this diagnosis."
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F3864"/>
                </a:solidFill>
              </a:rPr>
              <a:t>Recommended action: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3C8D5C"/>
                </a:solidFill>
              </a:rPr>
              <a:t>No action needed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Cotiviti Intern Assessment  |  Atharva Shinde  |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502920" cy="502920"/>
          </a:xfrm>
          <a:prstGeom prst="oval">
            <a:avLst/>
          </a:prstGeom>
          <a:solidFill>
            <a:srgbClr val="3E7CB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17320" y="1691640"/>
            <a:ext cx="999439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CF5"/>
                </a:solidFill>
              </a:rPr>
              <a:t>Position agentic reasoning as a complement to existing rules-based detection — not a replacement.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3108960"/>
            <a:ext cx="502920" cy="502920"/>
          </a:xfrm>
          <a:prstGeom prst="oval">
            <a:avLst/>
          </a:prstGeom>
          <a:solidFill>
            <a:srgbClr val="3E7CB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3063240"/>
            <a:ext cx="999439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CF5"/>
                </a:solidFill>
              </a:rPr>
              <a:t>Build leakage-auditing into the standard model validation pipeline, given how easily post-outcome fields enter feature sets undetected.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4480560"/>
            <a:ext cx="502920" cy="502920"/>
          </a:xfrm>
          <a:prstGeom prst="oval">
            <a:avLst/>
          </a:prstGeom>
          <a:solidFill>
            <a:srgbClr val="3E7CB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480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4434840"/>
            <a:ext cx="999439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CF5"/>
                </a:solidFill>
              </a:rPr>
              <a:t>Pilot on a narrow, well-understood fraud typology first, then expand to more complex multi-signal reasoning as auditor trust builds.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61722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6C4"/>
                </a:solidFill>
              </a:rPr>
              <a:t>Full technical detail, code, and video walkthrough in the accompanying GitHub repository.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2026-08-06T08:45:00Z</dcterms:created>
  <dcterms:modified xsi:type="dcterms:W3CDTF">2026-08-06T08:45:00Z</dcterms:modified>
</cp:coreProperties>
</file>